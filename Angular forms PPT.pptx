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Black"/>
      <p:bold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Roboto Light"/>
      <p:regular r:id="rId26"/>
      <p:bold r:id="rId27"/>
      <p:italic r:id="rId28"/>
      <p:boldItalic r:id="rId29"/>
    </p:embeddedFont>
    <p:embeddedFont>
      <p:font typeface="Roboto Mono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Black-bold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Black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Ligh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Light-italic.fntdata"/><Relationship Id="rId27" Type="http://schemas.openxmlformats.org/officeDocument/2006/relationships/font" Target="fonts/Roboto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ee458a07e_0_3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ee458a07e_0_4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e458a07e_0_6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e458a07e_0_7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e458a07e_0_9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ee458a07e_0_10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e458a07e_0_20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ee458a07e_0_20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ee458a07e_0_11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ee458a07e_0_20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ee458a07e_0_12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e458a07e_0_14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ee458a07e_0_17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ee458a07e_0_18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e458a07e_15_0)">
  <p:cSld name="Generated (g3dee458a07e_15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ophisticated, high-tech background for a software engineering presentation. Abstract dark blue and charcoal grey tones with subtle glowing lines of code, digital nodes, and geometric grid patterns. Clean, professional, and minimalist aesthetic." id="54" name="Google Shape;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571500" y="1428750"/>
            <a:ext cx="8001000" cy="2238525"/>
            <a:chOff x="0" y="-285750"/>
            <a:chExt cx="8001000" cy="2238525"/>
          </a:xfrm>
        </p:grpSpPr>
        <p:sp>
          <p:nvSpPr>
            <p:cNvPr id="57" name="Google Shape;57;p14"/>
            <p:cNvSpPr/>
            <p:nvPr/>
          </p:nvSpPr>
          <p:spPr>
            <a:xfrm>
              <a:off x="0" y="-285750"/>
              <a:ext cx="952500" cy="38100"/>
            </a:xfrm>
            <a:prstGeom prst="rect">
              <a:avLst/>
            </a:prstGeom>
            <a:solidFill>
              <a:srgbClr val="DD00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0" y="-142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&lt;ANGULAR /&gt;</a:t>
              </a:r>
              <a:endParaRPr b="1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0" y="190500"/>
              <a:ext cx="8001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4080">
                  <a:solidFill>
                    <a:srgbClr val="FFFFFF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Forms in Angular: Template-Driven vs. Reactive</a:t>
              </a:r>
              <a:endParaRPr b="0" sz="408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1476375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200">
                  <a:solidFill>
                    <a:srgbClr val="DDDDDD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Mastering User Input and Data Collection</a:t>
              </a:r>
              <a:endParaRPr b="0" sz="2200">
                <a:solidFill>
                  <a:srgbClr val="DDDDDD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pic>
        <p:nvPicPr>
          <p:cNvPr id="61" name="Google Shape;6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714750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0" y="0"/>
            <a:ext cx="1428900" cy="14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572000" y="3667275"/>
            <a:ext cx="43404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Team Members :    Rithika G 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				Srujan P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				Sangeetha S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				Harshiya Saxena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				Arshdeep S Virdi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571500" y="7143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&lt;AGENDA /&gt;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71500" y="104775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Session Overview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571500" y="1905000"/>
            <a:ext cx="3810000" cy="428700"/>
            <a:chOff x="571500" y="1905000"/>
            <a:chExt cx="3810000" cy="428700"/>
          </a:xfrm>
        </p:grpSpPr>
        <p:sp>
          <p:nvSpPr>
            <p:cNvPr id="72" name="Google Shape;72;p15"/>
            <p:cNvSpPr/>
            <p:nvPr/>
          </p:nvSpPr>
          <p:spPr>
            <a:xfrm>
              <a:off x="571500" y="1905000"/>
              <a:ext cx="3810000" cy="4287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762000" y="190500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1238250" y="190500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Why Forms Matter</a:t>
              </a:r>
              <a:endParaRPr b="0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571500" y="2428875"/>
            <a:ext cx="3810000" cy="428700"/>
            <a:chOff x="571500" y="2428875"/>
            <a:chExt cx="3810000" cy="428700"/>
          </a:xfrm>
        </p:grpSpPr>
        <p:sp>
          <p:nvSpPr>
            <p:cNvPr id="76" name="Google Shape;76;p15"/>
            <p:cNvSpPr/>
            <p:nvPr/>
          </p:nvSpPr>
          <p:spPr>
            <a:xfrm>
              <a:off x="571500" y="2428875"/>
              <a:ext cx="3810000" cy="4287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762000" y="2428875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238250" y="2428875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Template-Driven Forms</a:t>
              </a:r>
              <a:endParaRPr b="0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571500" y="2952750"/>
            <a:ext cx="3810000" cy="428700"/>
            <a:chOff x="571500" y="2952750"/>
            <a:chExt cx="3810000" cy="428700"/>
          </a:xfrm>
        </p:grpSpPr>
        <p:sp>
          <p:nvSpPr>
            <p:cNvPr id="80" name="Google Shape;80;p15"/>
            <p:cNvSpPr/>
            <p:nvPr/>
          </p:nvSpPr>
          <p:spPr>
            <a:xfrm>
              <a:off x="571500" y="2952750"/>
              <a:ext cx="3810000" cy="4287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762000" y="295275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238250" y="295275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Reactive Forms</a:t>
              </a:r>
              <a:endParaRPr b="0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571500" y="3476625"/>
            <a:ext cx="3810000" cy="428700"/>
            <a:chOff x="571500" y="3476625"/>
            <a:chExt cx="3810000" cy="428700"/>
          </a:xfrm>
        </p:grpSpPr>
        <p:sp>
          <p:nvSpPr>
            <p:cNvPr id="84" name="Google Shape;84;p15"/>
            <p:cNvSpPr/>
            <p:nvPr/>
          </p:nvSpPr>
          <p:spPr>
            <a:xfrm>
              <a:off x="571500" y="3476625"/>
              <a:ext cx="3810000" cy="4287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762000" y="3476625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1238250" y="3476625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Comparison</a:t>
              </a:r>
              <a:endParaRPr b="0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4762500" y="1905000"/>
            <a:ext cx="3810000" cy="428700"/>
            <a:chOff x="4762500" y="1905000"/>
            <a:chExt cx="3810000" cy="428700"/>
          </a:xfrm>
        </p:grpSpPr>
        <p:sp>
          <p:nvSpPr>
            <p:cNvPr id="88" name="Google Shape;88;p15"/>
            <p:cNvSpPr/>
            <p:nvPr/>
          </p:nvSpPr>
          <p:spPr>
            <a:xfrm>
              <a:off x="4762500" y="1905000"/>
              <a:ext cx="3810000" cy="4287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4953000" y="190500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5429250" y="190500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Validation</a:t>
              </a:r>
              <a:endParaRPr b="0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4762500" y="2428875"/>
            <a:ext cx="3810000" cy="428700"/>
            <a:chOff x="4762500" y="2428875"/>
            <a:chExt cx="3810000" cy="428700"/>
          </a:xfrm>
        </p:grpSpPr>
        <p:sp>
          <p:nvSpPr>
            <p:cNvPr id="92" name="Google Shape;92;p15"/>
            <p:cNvSpPr/>
            <p:nvPr/>
          </p:nvSpPr>
          <p:spPr>
            <a:xfrm>
              <a:off x="4762500" y="2428875"/>
              <a:ext cx="3810000" cy="4287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4953000" y="2428875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5429250" y="2428875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Use Cases</a:t>
              </a:r>
              <a:endParaRPr b="0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762500" y="2952750"/>
            <a:ext cx="3810000" cy="428700"/>
            <a:chOff x="4762500" y="2952750"/>
            <a:chExt cx="3810000" cy="428700"/>
          </a:xfrm>
        </p:grpSpPr>
        <p:sp>
          <p:nvSpPr>
            <p:cNvPr id="96" name="Google Shape;96;p15"/>
            <p:cNvSpPr/>
            <p:nvPr/>
          </p:nvSpPr>
          <p:spPr>
            <a:xfrm>
              <a:off x="4762500" y="2952750"/>
              <a:ext cx="3810000" cy="428700"/>
            </a:xfrm>
            <a:prstGeom prst="roundRect">
              <a:avLst>
                <a:gd fmla="val 888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4953000" y="2952750"/>
              <a:ext cx="38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429250" y="2952750"/>
              <a:ext cx="2952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Summary</a:t>
              </a:r>
              <a:endParaRPr b="0" sz="18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0" y="0"/>
            <a:ext cx="14289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5">
            <a:alphaModFix/>
          </a:blip>
          <a:srcRect b="0" l="10000" r="10000" t="0"/>
          <a:stretch/>
        </p:blipFill>
        <p:spPr>
          <a:xfrm>
            <a:off x="571500" y="47625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571500" y="571500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/&gt;</a:t>
            </a:r>
            <a:endParaRPr b="1" sz="11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71500" y="857250"/>
            <a:ext cx="8001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42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Why Forms Matter</a:t>
            </a:r>
            <a:endParaRPr b="0" sz="42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07" name="Google Shape;107;p16"/>
          <p:cNvGrpSpPr/>
          <p:nvPr/>
        </p:nvGrpSpPr>
        <p:grpSpPr>
          <a:xfrm>
            <a:off x="566738" y="1804988"/>
            <a:ext cx="2581200" cy="2676600"/>
            <a:chOff x="566738" y="1804988"/>
            <a:chExt cx="2581200" cy="2676600"/>
          </a:xfrm>
        </p:grpSpPr>
        <p:pic>
          <p:nvPicPr>
            <p:cNvPr id="108" name="Google Shape;10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6738" y="1804988"/>
              <a:ext cx="25812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6"/>
            <p:cNvSpPr txBox="1"/>
            <p:nvPr/>
          </p:nvSpPr>
          <p:spPr>
            <a:xfrm>
              <a:off x="571500" y="1809750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440">
                  <a:solidFill>
                    <a:srgbClr val="DD00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4440">
                <a:solidFill>
                  <a:srgbClr val="DD003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66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b="1" sz="16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BBBBBB"/>
                  </a:solidFill>
                  <a:latin typeface="Roboto"/>
                  <a:ea typeface="Roboto"/>
                  <a:cs typeface="Roboto"/>
                  <a:sym typeface="Roboto"/>
                </a:rPr>
                <a:t>The primary mechanism to collect user data and facilitate input for web applications.</a:t>
              </a:r>
              <a:endParaRPr b="0" sz="1203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281363" y="1804988"/>
            <a:ext cx="2581200" cy="2676600"/>
            <a:chOff x="3281363" y="1804988"/>
            <a:chExt cx="2581200" cy="2676600"/>
          </a:xfrm>
        </p:grpSpPr>
        <p:pic>
          <p:nvPicPr>
            <p:cNvPr id="111" name="Google Shape;111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81363" y="1804988"/>
              <a:ext cx="25812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6"/>
            <p:cNvSpPr txBox="1"/>
            <p:nvPr/>
          </p:nvSpPr>
          <p:spPr>
            <a:xfrm>
              <a:off x="3286125" y="1809750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440">
                  <a:solidFill>
                    <a:srgbClr val="DD00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vpn_key</a:t>
              </a:r>
              <a:endParaRPr sz="4440">
                <a:solidFill>
                  <a:srgbClr val="DD003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66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CRUD &amp; Auth</a:t>
              </a:r>
              <a:endParaRPr b="1" sz="16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BBBBBB"/>
                  </a:solidFill>
                  <a:latin typeface="Roboto"/>
                  <a:ea typeface="Roboto"/>
                  <a:cs typeface="Roboto"/>
                  <a:sym typeface="Roboto"/>
                </a:rPr>
                <a:t>Essential for authentication and all CRUD operations that modify server state.</a:t>
              </a:r>
              <a:endParaRPr b="0" sz="1203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995988" y="1804988"/>
            <a:ext cx="2581200" cy="2676600"/>
            <a:chOff x="5995988" y="1804988"/>
            <a:chExt cx="2581200" cy="2676600"/>
          </a:xfrm>
        </p:grpSpPr>
        <p:pic>
          <p:nvPicPr>
            <p:cNvPr id="114" name="Google Shape;114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95988" y="1804988"/>
              <a:ext cx="25812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6"/>
            <p:cNvSpPr txBox="1"/>
            <p:nvPr/>
          </p:nvSpPr>
          <p:spPr>
            <a:xfrm>
              <a:off x="6000750" y="1809750"/>
              <a:ext cx="2571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800">
                  <a:solidFill>
                    <a:srgbClr val="DD00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sync_alt</a:t>
              </a:r>
              <a:endParaRPr sz="4800">
                <a:solidFill>
                  <a:srgbClr val="DD003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User-Logic Bridge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BBBBBB"/>
                  </a:solidFill>
                  <a:latin typeface="Roboto"/>
                  <a:ea typeface="Roboto"/>
                  <a:cs typeface="Roboto"/>
                  <a:sym typeface="Roboto"/>
                </a:rPr>
                <a:t>The critical bridge between user intent and complex backend business logic.</a:t>
              </a:r>
              <a:endParaRPr b="0" sz="1300">
                <a:solidFill>
                  <a:srgbClr val="BBBBB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71500" y="714375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TEMPLATE&gt;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71500" y="104775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Template-Driven Forms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23" name="Google Shape;123;p17"/>
          <p:cNvGrpSpPr/>
          <p:nvPr/>
        </p:nvGrpSpPr>
        <p:grpSpPr>
          <a:xfrm>
            <a:off x="571500" y="1905000"/>
            <a:ext cx="3810000" cy="809700"/>
            <a:chOff x="571500" y="1905000"/>
            <a:chExt cx="3810000" cy="809700"/>
          </a:xfrm>
        </p:grpSpPr>
        <p:sp>
          <p:nvSpPr>
            <p:cNvPr id="124" name="Google Shape;124;p17"/>
            <p:cNvSpPr/>
            <p:nvPr/>
          </p:nvSpPr>
          <p:spPr>
            <a:xfrm>
              <a:off x="571500" y="1905000"/>
              <a:ext cx="3810000" cy="809700"/>
            </a:xfrm>
            <a:prstGeom prst="roundRect">
              <a:avLst>
                <a:gd fmla="val 470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762000" y="19050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1238250" y="19050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3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Directives-based</a:t>
              </a:r>
              <a:b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Heavy reliance on the HTML template using built-in directives.</a:t>
              </a:r>
              <a:endParaRPr b="0" sz="1275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17"/>
          <p:cNvGrpSpPr/>
          <p:nvPr/>
        </p:nvGrpSpPr>
        <p:grpSpPr>
          <a:xfrm>
            <a:off x="571500" y="2857500"/>
            <a:ext cx="3810000" cy="809700"/>
            <a:chOff x="571500" y="2857500"/>
            <a:chExt cx="3810000" cy="809700"/>
          </a:xfrm>
        </p:grpSpPr>
        <p:sp>
          <p:nvSpPr>
            <p:cNvPr id="128" name="Google Shape;128;p17"/>
            <p:cNvSpPr/>
            <p:nvPr/>
          </p:nvSpPr>
          <p:spPr>
            <a:xfrm>
              <a:off x="571500" y="2857500"/>
              <a:ext cx="3810000" cy="809700"/>
            </a:xfrm>
            <a:prstGeom prst="roundRect">
              <a:avLst>
                <a:gd fmla="val 470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762000" y="28575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238250" y="28575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3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Two-Way Binding</a:t>
              </a:r>
              <a:b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Uses [(ngModel)] to synchronize data between view and model.</a:t>
              </a:r>
              <a:endParaRPr b="0" sz="1275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4762500" y="1905000"/>
            <a:ext cx="3810000" cy="809700"/>
            <a:chOff x="4762500" y="1905000"/>
            <a:chExt cx="3810000" cy="809700"/>
          </a:xfrm>
        </p:grpSpPr>
        <p:sp>
          <p:nvSpPr>
            <p:cNvPr id="132" name="Google Shape;132;p17"/>
            <p:cNvSpPr/>
            <p:nvPr/>
          </p:nvSpPr>
          <p:spPr>
            <a:xfrm>
              <a:off x="4762500" y="1905000"/>
              <a:ext cx="3810000" cy="809700"/>
            </a:xfrm>
            <a:prstGeom prst="roundRect">
              <a:avLst>
                <a:gd fmla="val 470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4953000" y="19050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5429250" y="19050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3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Asynchronous Nature</a:t>
              </a:r>
              <a:b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Angular handles the form control creation and updates asynchronously.</a:t>
              </a:r>
              <a:endParaRPr b="0" sz="1275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4762500" y="2857500"/>
            <a:ext cx="3810000" cy="809700"/>
            <a:chOff x="4762500" y="2857500"/>
            <a:chExt cx="3810000" cy="809700"/>
          </a:xfrm>
        </p:grpSpPr>
        <p:sp>
          <p:nvSpPr>
            <p:cNvPr id="136" name="Google Shape;136;p17"/>
            <p:cNvSpPr/>
            <p:nvPr/>
          </p:nvSpPr>
          <p:spPr>
            <a:xfrm>
              <a:off x="4762500" y="2857500"/>
              <a:ext cx="3810000" cy="809700"/>
            </a:xfrm>
            <a:prstGeom prst="roundRect">
              <a:avLst>
                <a:gd fmla="val 4705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4953000" y="2857500"/>
              <a:ext cx="38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5429250" y="2857500"/>
              <a:ext cx="295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3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Simplicity First</a:t>
              </a:r>
              <a:b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-GB" sz="1275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Best suited for simple use cases and basic data collection forms.</a:t>
              </a:r>
              <a:endParaRPr b="0" sz="1275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REACTIVE&gt;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104775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Reactive Forms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571500" y="1905000"/>
            <a:ext cx="3905400" cy="952500"/>
            <a:chOff x="571500" y="1905000"/>
            <a:chExt cx="3905400" cy="952500"/>
          </a:xfrm>
        </p:grpSpPr>
        <p:sp>
          <p:nvSpPr>
            <p:cNvPr id="148" name="Google Shape;148;p18"/>
            <p:cNvSpPr/>
            <p:nvPr/>
          </p:nvSpPr>
          <p:spPr>
            <a:xfrm>
              <a:off x="571500" y="1905000"/>
              <a:ext cx="3905400" cy="952500"/>
            </a:xfrm>
            <a:prstGeom prst="roundRect">
              <a:avLst>
                <a:gd fmla="val 4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762000" y="1905000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1238250" y="1905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Model-driven Approach</a:t>
              </a:r>
              <a:endParaRPr b="1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The form structure is defined programmatically in the TypeScript component class.</a:t>
              </a:r>
              <a:endParaRPr b="0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" name="Google Shape;151;p18"/>
          <p:cNvGrpSpPr/>
          <p:nvPr/>
        </p:nvGrpSpPr>
        <p:grpSpPr>
          <a:xfrm>
            <a:off x="571500" y="3000375"/>
            <a:ext cx="3905400" cy="952500"/>
            <a:chOff x="571500" y="3000375"/>
            <a:chExt cx="3905400" cy="952500"/>
          </a:xfrm>
        </p:grpSpPr>
        <p:sp>
          <p:nvSpPr>
            <p:cNvPr id="152" name="Google Shape;152;p18"/>
            <p:cNvSpPr/>
            <p:nvPr/>
          </p:nvSpPr>
          <p:spPr>
            <a:xfrm>
              <a:off x="571500" y="3000375"/>
              <a:ext cx="3905400" cy="952500"/>
            </a:xfrm>
            <a:prstGeom prst="roundRect">
              <a:avLst>
                <a:gd fmla="val 400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762000" y="3000375"/>
              <a:ext cx="38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DD003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b="1" sz="14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1238250" y="3000375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Synchronous Data Flow</a:t>
              </a:r>
              <a:endParaRPr b="1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Provides immediate access to form data and status, making it highly testable and reliable.</a:t>
              </a:r>
              <a:endParaRPr b="0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4667250" y="1905000"/>
            <a:ext cx="3905400" cy="2047800"/>
            <a:chOff x="4667250" y="1905000"/>
            <a:chExt cx="3905400" cy="2047800"/>
          </a:xfrm>
        </p:grpSpPr>
        <p:sp>
          <p:nvSpPr>
            <p:cNvPr id="156" name="Google Shape;156;p18"/>
            <p:cNvSpPr/>
            <p:nvPr/>
          </p:nvSpPr>
          <p:spPr>
            <a:xfrm>
              <a:off x="4667250" y="1905000"/>
              <a:ext cx="3905400" cy="2047800"/>
            </a:xfrm>
            <a:prstGeom prst="roundRect">
              <a:avLst>
                <a:gd fmla="val 1860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4857750" y="2047875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Core Building Blocks</a:t>
              </a:r>
              <a:endParaRPr b="1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857750" y="2428875"/>
              <a:ext cx="3524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FormControl:</a:t>
              </a:r>
              <a:r>
                <a:rPr b="0" lang="en-GB" sz="12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Tracks value and validation status of an individual field.</a:t>
              </a:r>
              <a:endParaRPr b="0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FormGroup:</a:t>
              </a:r>
              <a:r>
                <a:rPr b="0" lang="en-GB" sz="12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Manages a group of controls as a single unit.</a:t>
              </a:r>
              <a:endParaRPr b="0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FormArray:</a:t>
              </a:r>
              <a:r>
                <a:rPr b="0" lang="en-GB" sz="12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Handles a dynamic list of form controls.</a:t>
              </a:r>
              <a:endParaRPr b="0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" name="Google Shape;159;p18"/>
          <p:cNvSpPr/>
          <p:nvPr/>
        </p:nvSpPr>
        <p:spPr>
          <a:xfrm>
            <a:off x="571500" y="4191000"/>
            <a:ext cx="8001000" cy="476400"/>
          </a:xfrm>
          <a:prstGeom prst="roundRect">
            <a:avLst>
              <a:gd fmla="val 8000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4191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Highly Scalable • Performance Oriented • Robust Validation • Developer Controlled</a:t>
            </a:r>
            <a:endParaRPr b="0" sz="11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COMPARISON&gt;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Comparison: Template vs. Reactive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68" name="Google Shape;168;p19"/>
          <p:cNvGrpSpPr/>
          <p:nvPr/>
        </p:nvGrpSpPr>
        <p:grpSpPr>
          <a:xfrm>
            <a:off x="571500" y="1905000"/>
            <a:ext cx="3905400" cy="2571750"/>
            <a:chOff x="571500" y="1905000"/>
            <a:chExt cx="3905400" cy="2571750"/>
          </a:xfrm>
        </p:grpSpPr>
        <p:sp>
          <p:nvSpPr>
            <p:cNvPr id="169" name="Google Shape;169;p19"/>
            <p:cNvSpPr/>
            <p:nvPr/>
          </p:nvSpPr>
          <p:spPr>
            <a:xfrm>
              <a:off x="571500" y="190500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762000" y="19050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71500" y="257175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762000" y="25717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Easy to use</a:t>
              </a:r>
              <a:endParaRPr b="0" sz="14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571500" y="323850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762000" y="32385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Asynchronous</a:t>
              </a:r>
              <a:endParaRPr b="0" sz="14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571500" y="390525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762000" y="39052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Minimal logic in Component</a:t>
              </a:r>
              <a:endParaRPr b="0" sz="14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19"/>
          <p:cNvGrpSpPr/>
          <p:nvPr/>
        </p:nvGrpSpPr>
        <p:grpSpPr>
          <a:xfrm>
            <a:off x="4667250" y="1905000"/>
            <a:ext cx="3905400" cy="2571750"/>
            <a:chOff x="4667250" y="1905000"/>
            <a:chExt cx="3905400" cy="2571750"/>
          </a:xfrm>
        </p:grpSpPr>
        <p:sp>
          <p:nvSpPr>
            <p:cNvPr id="178" name="Google Shape;178;p19"/>
            <p:cNvSpPr/>
            <p:nvPr/>
          </p:nvSpPr>
          <p:spPr>
            <a:xfrm>
              <a:off x="4667250" y="190500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4857750" y="19050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4667250" y="257175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4857750" y="25717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More powerful &amp; Better for testing</a:t>
              </a:r>
              <a:endParaRPr b="0" sz="14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4667250" y="323850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4857750" y="323850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Synchronous flow</a:t>
              </a:r>
              <a:endParaRPr b="0" sz="14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4667250" y="3905250"/>
              <a:ext cx="3905400" cy="571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4857750" y="390525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Logic lives in Component</a:t>
              </a:r>
              <a:endParaRPr b="0" sz="14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COMPARISON&gt;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View-to-model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4667250" y="1619230"/>
            <a:ext cx="3905400" cy="3205506"/>
            <a:chOff x="4667250" y="1905000"/>
            <a:chExt cx="3905400" cy="2190900"/>
          </a:xfrm>
        </p:grpSpPr>
        <p:sp>
          <p:nvSpPr>
            <p:cNvPr id="194" name="Google Shape;194;p20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485775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571500" y="1619114"/>
            <a:ext cx="3905400" cy="3205506"/>
            <a:chOff x="571500" y="1905000"/>
            <a:chExt cx="3905400" cy="2190900"/>
          </a:xfrm>
        </p:grpSpPr>
        <p:sp>
          <p:nvSpPr>
            <p:cNvPr id="198" name="Google Shape;198;p20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76200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874" y="2362524"/>
            <a:ext cx="3548650" cy="24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7250" y="2828375"/>
            <a:ext cx="3905400" cy="15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COMPARISON&gt;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Model-to-View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10" name="Google Shape;210;p21"/>
          <p:cNvGrpSpPr/>
          <p:nvPr/>
        </p:nvGrpSpPr>
        <p:grpSpPr>
          <a:xfrm>
            <a:off x="571500" y="1666734"/>
            <a:ext cx="3905400" cy="3348411"/>
            <a:chOff x="571500" y="1904961"/>
            <a:chExt cx="3905400" cy="2190939"/>
          </a:xfrm>
        </p:grpSpPr>
        <p:sp>
          <p:nvSpPr>
            <p:cNvPr id="211" name="Google Shape;211;p21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762000" y="1904961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4" name="Google Shape;214;p21"/>
          <p:cNvGrpSpPr/>
          <p:nvPr/>
        </p:nvGrpSpPr>
        <p:grpSpPr>
          <a:xfrm>
            <a:off x="4667250" y="1619187"/>
            <a:ext cx="3905400" cy="3395676"/>
            <a:chOff x="4667250" y="1905000"/>
            <a:chExt cx="3905400" cy="2190900"/>
          </a:xfrm>
        </p:grpSpPr>
        <p:sp>
          <p:nvSpPr>
            <p:cNvPr id="215" name="Google Shape;215;p21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4857750" y="1935715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18" name="Google Shape;2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263" y="2327650"/>
            <a:ext cx="3287376" cy="24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499" y="2145675"/>
            <a:ext cx="3575411" cy="280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VALIDATION&gt;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Validation Demo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1905000"/>
            <a:ext cx="3905400" cy="2190900"/>
          </a:xfrm>
          <a:prstGeom prst="roundRect">
            <a:avLst>
              <a:gd fmla="val 3478" name="adj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762000" y="2047875"/>
            <a:ext cx="352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Built-in Validators</a:t>
            </a:r>
            <a:endParaRPr b="1"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2428875"/>
            <a:ext cx="3524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rPr>
              <a:t>Validators.required</a:t>
            </a:r>
            <a:br>
              <a:rPr b="0" lang="en-GB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-GB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Ensures the form control has a non-empty value.</a:t>
            </a:r>
            <a:endParaRPr b="0" sz="120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rPr>
              <a:t>Validators.email</a:t>
            </a:r>
            <a:br>
              <a:rPr b="0" lang="en-GB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-GB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Checks if the value matches a proper email format.</a:t>
            </a:r>
            <a:endParaRPr b="0" sz="120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rPr>
              <a:t>Validators.minLength(n)</a:t>
            </a:r>
            <a:br>
              <a:rPr b="0" lang="en-GB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-GB" sz="12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Sets a minimum character threshold.</a:t>
            </a:r>
            <a:endParaRPr b="0" sz="120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667250" y="1905000"/>
            <a:ext cx="3905400" cy="2190900"/>
          </a:xfrm>
          <a:prstGeom prst="roundRect">
            <a:avLst>
              <a:gd fmla="val 3478" name="adj"/>
            </a:avLst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4667250" y="1905000"/>
            <a:ext cx="3905400" cy="285900"/>
          </a:xfrm>
          <a:prstGeom prst="roundRect">
            <a:avLst>
              <a:gd fmla="val 26666" name="adj"/>
            </a:avLst>
          </a:prstGeom>
          <a:solidFill>
            <a:srgbClr val="2222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4819650" y="2009775"/>
            <a:ext cx="76200" cy="762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4962525" y="2009775"/>
            <a:ext cx="76200" cy="762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105400" y="2009775"/>
            <a:ext cx="76200" cy="762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857750" y="2286000"/>
            <a:ext cx="352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777777"/>
                </a:solidFill>
                <a:latin typeface="Roboto Mono"/>
                <a:ea typeface="Roboto Mono"/>
                <a:cs typeface="Roboto Mono"/>
                <a:sym typeface="Roboto Mono"/>
              </a:rPr>
              <a:t>// TypeScript Validation Example</a:t>
            </a:r>
            <a:endParaRPr sz="1100">
              <a:solidFill>
                <a:srgbClr val="77777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this.userForm = new FormGroup({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email: new FormControl('', [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Validators.required,</a:t>
            </a:r>
            <a:endParaRPr sz="11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Validators.email</a:t>
            </a:r>
            <a:endParaRPr sz="11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]),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password: new FormControl('', [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Validators.required</a:t>
            </a:r>
            <a:endParaRPr sz="11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42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])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0E0E0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100">
              <a:solidFill>
                <a:srgbClr val="E0E0E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4286250"/>
            <a:ext cx="8001000" cy="381000"/>
          </a:xfrm>
          <a:prstGeom prst="roundRect">
            <a:avLst>
              <a:gd fmla="val 10000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42862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Reactive Validation • Sync Flow • Reusable Logic • Flexible</a:t>
            </a:r>
            <a:endParaRPr b="1" sz="12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7143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DEPLOYMENT&gt;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Deployment</a:t>
            </a: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 Demo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4286250"/>
            <a:ext cx="8001000" cy="381000"/>
          </a:xfrm>
          <a:prstGeom prst="roundRect">
            <a:avLst>
              <a:gd fmla="val 10000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714375"/>
            <a:ext cx="3333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DECISION GUIDE&gt;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When to Use Which?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54" name="Google Shape;254;p24"/>
          <p:cNvGrpSpPr/>
          <p:nvPr/>
        </p:nvGrpSpPr>
        <p:grpSpPr>
          <a:xfrm>
            <a:off x="571500" y="1905000"/>
            <a:ext cx="3905400" cy="2190900"/>
            <a:chOff x="571500" y="1905000"/>
            <a:chExt cx="3905400" cy="2190900"/>
          </a:xfrm>
        </p:grpSpPr>
        <p:sp>
          <p:nvSpPr>
            <p:cNvPr id="255" name="Google Shape;255;p24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4"/>
            <p:cNvSpPr txBox="1"/>
            <p:nvPr/>
          </p:nvSpPr>
          <p:spPr>
            <a:xfrm>
              <a:off x="76200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Template-Driven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24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Ideal for small, simple forms.</a:t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Best for quick prototypes.</a:t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Minimal component logic required.</a:t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4667250" y="1905000"/>
            <a:ext cx="3905400" cy="2190900"/>
            <a:chOff x="4667250" y="1905000"/>
            <a:chExt cx="3905400" cy="2190900"/>
          </a:xfrm>
        </p:grpSpPr>
        <p:sp>
          <p:nvSpPr>
            <p:cNvPr id="259" name="Google Shape;259;p24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 txBox="1"/>
            <p:nvPr/>
          </p:nvSpPr>
          <p:spPr>
            <a:xfrm>
              <a:off x="485775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Reactive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Handles complex business logic.</a:t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Essential for dynamic field generation.</a:t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Superior support for unit testing.</a:t>
              </a:r>
              <a:endParaRPr b="0" sz="130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2" name="Google Shape;262;p24"/>
          <p:cNvSpPr/>
          <p:nvPr/>
        </p:nvSpPr>
        <p:spPr>
          <a:xfrm>
            <a:off x="571500" y="4286250"/>
            <a:ext cx="8001000" cy="428700"/>
          </a:xfrm>
          <a:prstGeom prst="roundRect">
            <a:avLst>
              <a:gd fmla="val 8888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762000" y="428625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Simple Prototypes vs. Enterprise Scalability</a:t>
            </a:r>
            <a:endParaRPr b="1" sz="12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69" name="Google Shape;269;p25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571500" y="714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USE CASES&gt;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Real-World Scenarios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72" name="Google Shape;272;p25"/>
          <p:cNvGrpSpPr/>
          <p:nvPr/>
        </p:nvGrpSpPr>
        <p:grpSpPr>
          <a:xfrm>
            <a:off x="571500" y="1905000"/>
            <a:ext cx="3905400" cy="2190900"/>
            <a:chOff x="571500" y="1905000"/>
            <a:chExt cx="3905400" cy="2190900"/>
          </a:xfrm>
        </p:grpSpPr>
        <p:sp>
          <p:nvSpPr>
            <p:cNvPr id="273" name="Google Shape;273;p25"/>
            <p:cNvSpPr/>
            <p:nvPr/>
          </p:nvSpPr>
          <p:spPr>
            <a:xfrm>
              <a:off x="57150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5"/>
            <p:cNvSpPr txBox="1"/>
            <p:nvPr/>
          </p:nvSpPr>
          <p:spPr>
            <a:xfrm>
              <a:off x="76200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Simple Feedback Form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25"/>
            <p:cNvSpPr txBox="1"/>
            <p:nvPr/>
          </p:nvSpPr>
          <p:spPr>
            <a:xfrm>
              <a:off x="76200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3">
                  <a:solidFill>
                    <a:srgbClr val="DD0031"/>
                  </a:solidFill>
                  <a:latin typeface="Roboto"/>
                  <a:ea typeface="Roboto"/>
                  <a:cs typeface="Roboto"/>
                  <a:sym typeface="Roboto"/>
                </a:rPr>
                <a:t>Template-Driven approach</a:t>
              </a:r>
              <a:endParaRPr b="1" sz="1203">
                <a:solidFill>
                  <a:srgbClr val="DD003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Static fields: Name, Email, Comment.</a:t>
              </a:r>
              <a:endParaRPr b="0" sz="1203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Logic: "Send as-is" to an API.</a:t>
              </a:r>
              <a:endParaRPr b="0" sz="1203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No complex cross-field validation or dynamic changes needed.</a:t>
              </a:r>
              <a:endParaRPr b="0" sz="1203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6" name="Google Shape;276;p25"/>
          <p:cNvGrpSpPr/>
          <p:nvPr/>
        </p:nvGrpSpPr>
        <p:grpSpPr>
          <a:xfrm>
            <a:off x="4667250" y="1905000"/>
            <a:ext cx="3905400" cy="2190900"/>
            <a:chOff x="4667250" y="1905000"/>
            <a:chExt cx="3905400" cy="2190900"/>
          </a:xfrm>
        </p:grpSpPr>
        <p:sp>
          <p:nvSpPr>
            <p:cNvPr id="277" name="Google Shape;277;p25"/>
            <p:cNvSpPr/>
            <p:nvPr/>
          </p:nvSpPr>
          <p:spPr>
            <a:xfrm>
              <a:off x="4667250" y="1905000"/>
              <a:ext cx="3905400" cy="2190900"/>
            </a:xfrm>
            <a:prstGeom prst="roundRect">
              <a:avLst>
                <a:gd fmla="val 3478" name="adj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 txBox="1"/>
            <p:nvPr/>
          </p:nvSpPr>
          <p:spPr>
            <a:xfrm>
              <a:off x="4857750" y="2095500"/>
              <a:ext cx="3524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User Registration Hub</a:t>
              </a:r>
              <a:endParaRPr b="1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" name="Google Shape;279;p25"/>
            <p:cNvSpPr txBox="1"/>
            <p:nvPr/>
          </p:nvSpPr>
          <p:spPr>
            <a:xfrm>
              <a:off x="4857750" y="257175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3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Reactive Forms approach</a:t>
              </a:r>
              <a:endParaRPr b="1" sz="1203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Password Strength:</a:t>
              </a: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Real-time regex validation.</a:t>
              </a:r>
              <a:endParaRPr b="0" sz="1203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Email Check:</a:t>
              </a: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Async validator for availability.</a:t>
              </a:r>
              <a:endParaRPr b="0" sz="1203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1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Dynamic UI:</a:t>
              </a:r>
              <a:r>
                <a:rPr b="0" lang="en-GB" sz="1203">
                  <a:solidFill>
                    <a:srgbClr val="DDDDDD"/>
                  </a:solidFill>
                  <a:latin typeface="Roboto"/>
                  <a:ea typeface="Roboto"/>
                  <a:cs typeface="Roboto"/>
                  <a:sym typeface="Roboto"/>
                </a:rPr>
                <a:t> Conditional fields based on user role.</a:t>
              </a:r>
              <a:endParaRPr b="0" sz="1203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0" name="Google Shape;280;p25"/>
          <p:cNvSpPr/>
          <p:nvPr/>
        </p:nvSpPr>
        <p:spPr>
          <a:xfrm>
            <a:off x="571500" y="4286250"/>
            <a:ext cx="8001000" cy="428700"/>
          </a:xfrm>
          <a:prstGeom prst="roundRect">
            <a:avLst>
              <a:gd fmla="val 8888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762000" y="428625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Choose based on complexity: One-way data vs. High-fidelity interactions</a:t>
            </a:r>
            <a:endParaRPr b="1" sz="12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87" name="Google Shape;287;p26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571500" y="714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SUMMARY&gt;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571500" y="1047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Conclusion &amp; Key Takeaways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571500" y="1905000"/>
            <a:ext cx="3905400" cy="2190900"/>
          </a:xfrm>
          <a:prstGeom prst="roundRect">
            <a:avLst>
              <a:gd fmla="val 3478" name="adj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62000" y="2095500"/>
            <a:ext cx="3524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Right Tool</a:t>
            </a:r>
            <a:endParaRPr b="1" sz="153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762000" y="2571750"/>
            <a:ext cx="35244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Template-Driven:</a:t>
            </a: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Choose for speed, small-scale forms, and simplicity.</a:t>
            </a:r>
            <a:endParaRPr b="0" sz="119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Reactive:</a:t>
            </a: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Choose for power, predictability, and complex business logic.</a:t>
            </a:r>
            <a:endParaRPr b="0" sz="119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Angular:</a:t>
            </a: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Provides robust, first-class tools for both development patterns.</a:t>
            </a:r>
            <a:endParaRPr b="0" sz="119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667250" y="1905000"/>
            <a:ext cx="3905400" cy="2190900"/>
          </a:xfrm>
          <a:prstGeom prst="roundRect">
            <a:avLst>
              <a:gd fmla="val 3478" name="adj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4857750" y="2095500"/>
            <a:ext cx="3524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Verdict</a:t>
            </a:r>
            <a:endParaRPr b="1" sz="153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4857750" y="2571750"/>
            <a:ext cx="35244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1530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rPr>
              <a:t>"Don't build a skyscraper with a hammer, and don't drive a nail with a crane."</a:t>
            </a:r>
            <a:endParaRPr b="0" i="1" sz="1530">
              <a:solidFill>
                <a:srgbClr val="10B98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Choose based on the </a:t>
            </a:r>
            <a:r>
              <a:rPr b="1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complexity</a:t>
            </a:r>
            <a:r>
              <a:rPr b="0" lang="en-GB" sz="1190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of your requirements.</a:t>
            </a:r>
            <a:endParaRPr b="0" sz="1190">
              <a:solidFill>
                <a:srgbClr val="DDDD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71500" y="4286250"/>
            <a:ext cx="8001000" cy="476400"/>
          </a:xfrm>
          <a:prstGeom prst="roundRect">
            <a:avLst>
              <a:gd fmla="val 8000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762000" y="42862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9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Empowering Developers to Build Better Forms</a:t>
            </a:r>
            <a:endParaRPr b="1" sz="119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/>
          <p:nvPr/>
        </p:nvSpPr>
        <p:spPr>
          <a:xfrm>
            <a:off x="571500" y="571500"/>
            <a:ext cx="952500" cy="381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571500" y="714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D0031"/>
                </a:solidFill>
                <a:latin typeface="Roboto Mono"/>
                <a:ea typeface="Roboto Mono"/>
                <a:cs typeface="Roboto Mono"/>
                <a:sym typeface="Roboto Mono"/>
              </a:rPr>
              <a:t>&lt;FORMS / FINISH&gt;</a:t>
            </a:r>
            <a:endParaRPr b="1" sz="1200">
              <a:solidFill>
                <a:srgbClr val="DD00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571500" y="2309888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Thank You &amp; Q&amp;A</a:t>
            </a:r>
            <a:endParaRPr b="0" sz="36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71500" y="4191000"/>
            <a:ext cx="8001000" cy="476400"/>
          </a:xfrm>
          <a:prstGeom prst="roundRect">
            <a:avLst>
              <a:gd fmla="val 8000" name="adj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762000" y="4191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Questions? Let's discuss building better forms together.</a:t>
            </a:r>
            <a:endParaRPr b="1" sz="1200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